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Nombre de jeux</c:v>
                </c:pt>
              </c:strCache>
            </c:strRef>
          </c:tx>
          <c:spPr>
            <a:solidFill>
              <a:srgbClr val="2A47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8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Indie</c:v>
                  </c:pt>
                  <c:pt idx="1">
                    <c:v>Action</c:v>
                  </c:pt>
                  <c:pt idx="2">
                    <c:v>Casual</c:v>
                  </c:pt>
                  <c:pt idx="3">
                    <c:v>Adventure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39681</c:v>
                </c:pt>
                <c:pt idx="1">
                  <c:v>23759</c:v>
                </c:pt>
                <c:pt idx="2">
                  <c:v>22086</c:v>
                </c:pt>
                <c:pt idx="3">
                  <c:v>21431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8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8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7F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Nb blockbusters</c:v>
                </c:pt>
              </c:strCache>
            </c:strRef>
          </c:tx>
          <c:spPr>
            <a:solidFill>
              <a:srgbClr val="1B28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8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Action</c:v>
                  </c:pt>
                  <c:pt idx="1">
                    <c:v>Indie</c:v>
                  </c:pt>
                  <c:pt idx="2">
                    <c:v>Adventure</c:v>
                  </c:pt>
                  <c:pt idx="3">
                    <c:v>Simulation</c:v>
                  </c:pt>
                  <c:pt idx="4">
                    <c:v>RPG</c:v>
                  </c:pt>
                  <c:pt idx="5">
                    <c:v>Strategy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</c:v>
                </c:pt>
                <c:pt idx="1">
                  <c:v>74</c:v>
                </c:pt>
                <c:pt idx="2">
                  <c:v>59</c:v>
                </c:pt>
                <c:pt idx="3">
                  <c:v>40</c:v>
                </c:pt>
                <c:pt idx="4">
                  <c:v>32</c:v>
                </c:pt>
                <c:pt idx="5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8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8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7F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914400" cy="914400"/>
          </a:xfrm>
          <a:prstGeom prst="ellipse">
            <a:avLst/>
          </a:prstGeom>
          <a:solidFill>
            <a:srgbClr val="2A47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859536"/>
            <a:ext cx="566928" cy="566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MARCHÉ STEAM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83464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Comprendre l'écosystème du jeu vidéo pour éclairer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lancement d'un nouveau jeu Ubisoft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6177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de données (PySpark / Databricks) — Projet Jedha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5989320"/>
            <a:ext cx="2926080" cy="0"/>
          </a:xfrm>
          <a:prstGeom prst="line">
            <a:avLst/>
          </a:prstGeom>
          <a:noFill/>
          <a:ln w="25400">
            <a:solidFill>
              <a:srgbClr val="66C0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catalogue Steam (S3) · steam_game_output.json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méthodologie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9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Ubisoft souhaite lancer un nouveau jeu et nous demande d'analyser l'écosystème Steam pour orienter les choix de genre, de prix et de plateforme.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83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23842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221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Steam complet, JSON semi-structuré stocké sur S3 (steam_game_output.json)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19659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838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2240280"/>
            <a:ext cx="640080" cy="64008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378" y="238429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2221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technique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309360" y="29260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sur Databricks : aplatissement du schéma, explode() des genres, parsing multi-format des dates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83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80560"/>
            <a:ext cx="640080" cy="64008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462457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4622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Approche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1663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à 3 niveaux : macro (marché), genres, plateformes — puis prix &amp; promotions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35040" y="42062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838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09360" y="4480560"/>
            <a:ext cx="640080" cy="64008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378" y="462457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32320" y="44622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final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309360" y="51663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Traduire les constats data en recommandations business concrètes pour Ubisoft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Steam — Mission Ubisoft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9728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macro : un marché saturé, dominé par Windows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1B283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20116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6C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+24 000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371600" y="3063240"/>
            <a:ext cx="1600200" cy="0"/>
          </a:xfrm>
          <a:prstGeom prst="line">
            <a:avLst/>
          </a:prstGeom>
          <a:noFill/>
          <a:ln w="12700">
            <a:solidFill>
              <a:srgbClr val="3E5A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24612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publiés en plus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la période COVID (2019-2021)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0" y="160020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1B28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51960" y="20116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6C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20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846320" y="3063240"/>
            <a:ext cx="1600200" cy="0"/>
          </a:xfrm>
          <a:prstGeom prst="line">
            <a:avLst/>
          </a:prstGeom>
          <a:noFill/>
          <a:ln w="12700">
            <a:solidFill>
              <a:srgbClr val="3E5A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324612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payants seulement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 en promotion à un instant donné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60020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1B28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26680" y="20116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6C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4,99 €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8321040" y="3063240"/>
            <a:ext cx="1600200" cy="0"/>
          </a:xfrm>
          <a:prstGeom prst="line">
            <a:avLst/>
          </a:prstGeom>
          <a:noFill/>
          <a:ln w="12700">
            <a:solidFill>
              <a:srgbClr val="3E5A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0" y="324612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médian d'un jeu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l'ensemble du catalogue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0835640" cy="1234440"/>
          </a:xfrm>
          <a:prstGeom prst="roundRect">
            <a:avLst>
              <a:gd name="adj" fmla="val 4444"/>
            </a:avLst>
          </a:prstGeom>
          <a:solidFill>
            <a:srgbClr val="2A475E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57784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371600" y="5120640"/>
            <a:ext cx="9829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est quasi universel sur Steam — macOS et Linux restent minoritaires mais non négligeables, surtout sur Strategy, Simulation et RPG.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Steam — Mission Ubisoft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Genres : le volume et le succès ne sont pas au même endroit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Genres les plus présents (volume)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6364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C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Genres des "blockbusters" (&gt;50k reviews, &gt;90% positifs)</a:t>
            </a:r>
            <a:endParaRPr lang="en-US" sz="16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172200" y="160020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Steam — Mission Ubisoft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9728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Prix : le marché est low-cost, mais l'engagement est premium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4805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838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54480"/>
            <a:ext cx="594360" cy="59436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11" y="1688211"/>
            <a:ext cx="326898" cy="3268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72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des prix (catalogue complet)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56616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4,99 €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788920"/>
            <a:ext cx="39776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7,75 €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68680" y="3246120"/>
            <a:ext cx="39776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75ᵉ percentile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10,00 €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68680" y="3703320"/>
            <a:ext cx="39776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observé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56616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47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999,00 €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438912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grande majorité des jeux se vendent entre 0,99 € et 9,99 €.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257800" y="1280160"/>
            <a:ext cx="6172200" cy="4343400"/>
          </a:xfrm>
          <a:prstGeom prst="roundRect">
            <a:avLst>
              <a:gd name="adj" fmla="val 1684"/>
            </a:avLst>
          </a:prstGeom>
          <a:solidFill>
            <a:srgbClr val="1B2838"/>
          </a:solidFill>
          <a:ln/>
        </p:spPr>
      </p:sp>
      <p:sp>
        <p:nvSpPr>
          <p:cNvPr id="20" name="Shape 17"/>
          <p:cNvSpPr/>
          <p:nvPr/>
        </p:nvSpPr>
        <p:spPr>
          <a:xfrm>
            <a:off x="5577840" y="1600200"/>
            <a:ext cx="594360" cy="594360"/>
          </a:xfrm>
          <a:prstGeom prst="ellipse">
            <a:avLst/>
          </a:prstGeom>
          <a:solidFill>
            <a:srgbClr val="2A475E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571" y="1733931"/>
            <a:ext cx="326898" cy="32689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355080" y="161848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sweet spot de l'engagement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5577840" y="23317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jeux entre 15 € et 70 € génèrent en moyenne le plus de reviews — bien au-delà des jeux à 1-2 € qui dominent pourtant le catalogue en volume.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577840" y="3520440"/>
            <a:ext cx="5486400" cy="0"/>
          </a:xfrm>
          <a:prstGeom prst="line">
            <a:avLst/>
          </a:prstGeom>
          <a:noFill/>
          <a:ln w="12700">
            <a:solidFill>
              <a:srgbClr val="3E5A7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57784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 les plus chers (médiane)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557784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   ·   Simulation   ·   Sport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5577840" y="46177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 sont aussi des genres à fort engagement : un pricing premium y est cohérent, pas pénalisant.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Steam — Mission Ubisoft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09728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pour Ubisoft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leviers, dérivés directement des constats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83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691" y="20996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47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sur Action / Adventure / RPG / Strategy / Simulation — les genres qui concentrent les blockbusters, pas le volume low-cost.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169164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838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965960"/>
            <a:ext cx="594360" cy="59436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091" y="209969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947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Plateforme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309360" y="26517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Prévoir un support tri-plateforme (Windows + macOS + Linux) dès le lancement plutôt qu'un portage a posteriori.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83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343400"/>
            <a:ext cx="594360" cy="59436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" y="447713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4325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02920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Assumer un pricing premium (30-60 €) avec des promotions progressives — pas le low-cost généralisé du marché indie.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35040" y="406908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838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09360" y="4343400"/>
            <a:ext cx="594360" cy="59436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091" y="447713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4325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Différenciation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309360" y="502920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démarquer par la qualité de production et la profondeur de contenu, pas par le volume né de la vague COVID.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Steam — Mission Ubisoft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972800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2A47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904342"/>
            <a:ext cx="477317" cy="4773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194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— questions ?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4612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Ubisoft doit viser le segment premium du marché Steam : genres à forte satisfaction, support multi-plateforme dès le lancement, et un pricing assumé plutôt qu'une course au volume low-cost.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25400">
            <a:solidFill>
              <a:srgbClr val="66C0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029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complet publié sur Databricks — lien disponible dans le dépôt GitHub du projet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2026-09-14T13:20:16Z</dcterms:created>
  <dcterms:modified xsi:type="dcterms:W3CDTF">2026-09-14T13:20:16Z</dcterms:modified>
</cp:coreProperties>
</file>