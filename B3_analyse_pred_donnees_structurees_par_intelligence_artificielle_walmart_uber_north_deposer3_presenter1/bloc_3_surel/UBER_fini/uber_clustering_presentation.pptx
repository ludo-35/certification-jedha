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Courses</c:v>
                </c:pt>
              </c:strCache>
            </c:strRef>
          </c:tx>
          <c:spPr>
            <a:solidFill>
              <a:srgbClr val="FFC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</c:v>
                  </c:pt>
                  <c:pt idx="1">
                    <c:v>Mar</c:v>
                  </c:pt>
                  <c:pt idx="2">
                    <c:v>Mer</c:v>
                  </c:pt>
                  <c:pt idx="3">
                    <c:v>Jeu</c:v>
                  </c:pt>
                  <c:pt idx="4">
                    <c:v>Ven</c:v>
                  </c:pt>
                  <c:pt idx="5">
                    <c:v>Sam</c:v>
                  </c:pt>
                  <c:pt idx="6">
                    <c:v>Dim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541472</c:v>
                </c:pt>
                <c:pt idx="1">
                  <c:v>663789</c:v>
                </c:pt>
                <c:pt idx="2">
                  <c:v>696488</c:v>
                </c:pt>
                <c:pt idx="3">
                  <c:v>755145</c:v>
                </c:pt>
                <c:pt idx="4">
                  <c:v>741139</c:v>
                </c:pt>
                <c:pt idx="5">
                  <c:v>646114</c:v>
                </c:pt>
                <c:pt idx="6">
                  <c:v>490180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5"/>
        </a:solidFill>
        <a:ln w="12700" cap="flat">
          <a:solidFill>
            <a:srgbClr val="F7F7F5"/>
          </a:solidFill>
        </a:ln>
        <a:effectLst/>
      </c:spPr>
    </c:plotArea>
    <c:plotVisOnly val="1"/>
    <c:dispBlanksAs val="span"/>
  </c:chart>
  <c:spPr>
    <a:solidFill>
      <a:srgbClr val="F7F7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2A2A2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4" name="Image 0" descr="/home/claude/pptx/icon_compas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9" y="779069"/>
            <a:ext cx="590702" cy="5907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MÉMOIRE — MACHINE LEARNING NON SUPERVISÉ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69748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Zones à forte demande Uber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New York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443484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KMeans et DBSCAN pour recommander aux chauffeurs les zones à cibler, jour par jour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5989320"/>
            <a:ext cx="1280160" cy="0"/>
          </a:xfrm>
          <a:prstGeom prst="line">
            <a:avLst/>
          </a:prstGeom>
          <a:noFill/>
          <a:ln w="31750">
            <a:solidFill>
              <a:srgbClr val="FFC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Uber NYC — avril à septembre 2014 (4,5M courses) &amp; janvier à juin 2015 (14,3M courses)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3" name="Image 0" descr="/home/claude/pptx/icon_targe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métier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DDD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NE FONCTIONNE PAS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chauffeurs Uber ne sont pas toujours positionnés là où se trouve la demande.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 acceptent d'attendre 5 à 7 minutes maximum — au-delà, ils annulent leur course.</a:t>
            </a:r>
            <a:endParaRPr lang="en-US" sz="15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ce décalage se traduit par des temps d'attente de 10 à 15 minutes dans certains quartiers.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440680" cy="3794760"/>
          </a:xfrm>
          <a:prstGeom prst="roundRect">
            <a:avLst>
              <a:gd name="adj" fmla="val 2892"/>
            </a:avLst>
          </a:prstGeom>
          <a:solidFill>
            <a:srgbClr val="1C1C1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10" name="Image 1" descr="/home/claude/pptx/icon_map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70" y="2072030"/>
            <a:ext cx="382219" cy="3822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20116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L'objectif du projet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446520" y="26974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4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algorithme capable d’identifier automatiquement les zones à forte demande à New York, à tout moment de la journée, pour recommander aux chauffeurs où se positionner.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46520" y="4160520"/>
            <a:ext cx="4846320" cy="0"/>
          </a:xfrm>
          <a:prstGeom prst="line">
            <a:avLst/>
          </a:prstGeom>
          <a:noFill/>
          <a:ln w="12700">
            <a:solidFill>
              <a:srgbClr val="3A3A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4343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DE TEST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46520" y="46177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 — avant un futur déploiement à l'international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3" name="Image 0" descr="/home/claude/pptx/icon_layer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et méthodologie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DDD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 millions de courses Uber géolocalisées à New York (avril–septembre 2014), nettoyées puis explorées avant clustering.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1591056" y="2715768"/>
            <a:ext cx="9034272" cy="0"/>
          </a:xfrm>
          <a:prstGeom prst="line">
            <a:avLst/>
          </a:prstGeom>
          <a:noFill/>
          <a:ln w="25400">
            <a:solidFill>
              <a:srgbClr val="FFC3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2331720"/>
            <a:ext cx="768096" cy="768096"/>
          </a:xfrm>
          <a:prstGeom prst="ellipse">
            <a:avLst/>
          </a:prstGeom>
          <a:solidFill>
            <a:srgbClr val="1C1C1E"/>
          </a:solidFill>
          <a:ln w="38100">
            <a:solidFill>
              <a:srgbClr val="F7F7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07008" y="23317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" y="34747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388620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4,5M courses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(Lat/Lon, horodatage)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465576" y="2331720"/>
            <a:ext cx="768096" cy="768096"/>
          </a:xfrm>
          <a:prstGeom prst="ellipse">
            <a:avLst/>
          </a:prstGeom>
          <a:solidFill>
            <a:srgbClr val="1C1C1E"/>
          </a:solidFill>
          <a:ln w="38100">
            <a:solidFill>
              <a:srgbClr val="F7F7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65576" y="23317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2807208" y="32918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944368" y="34747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Nettoyage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44368" y="388620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jour de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 + heure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724144" y="2331720"/>
            <a:ext cx="768096" cy="768096"/>
          </a:xfrm>
          <a:prstGeom prst="ellipse">
            <a:avLst/>
          </a:prstGeom>
          <a:solidFill>
            <a:srgbClr val="FFC300"/>
          </a:solidFill>
          <a:ln w="38100">
            <a:solidFill>
              <a:srgbClr val="F7F7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24144" y="23317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5065776" y="32918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202936" y="34747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02936" y="388620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détecté :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17h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982712" y="2331720"/>
            <a:ext cx="768096" cy="768096"/>
          </a:xfrm>
          <a:prstGeom prst="ellipse">
            <a:avLst/>
          </a:prstGeom>
          <a:solidFill>
            <a:srgbClr val="1C1C1E"/>
          </a:solidFill>
          <a:ln w="38100">
            <a:solidFill>
              <a:srgbClr val="F7F7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82712" y="23317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7324344" y="32918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461504" y="34747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61504" y="388620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&amp;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comparés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10241280" y="2331720"/>
            <a:ext cx="768096" cy="768096"/>
          </a:xfrm>
          <a:prstGeom prst="ellipse">
            <a:avLst/>
          </a:prstGeom>
          <a:solidFill>
            <a:srgbClr val="1C1C1E"/>
          </a:solidFill>
          <a:ln w="38100">
            <a:solidFill>
              <a:srgbClr val="F7F7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241280" y="233172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9582912" y="32918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720072" y="34747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720072" y="388620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→ dimanche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3" name="Image 0" descr="/home/claude/pptx/icon_cpu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d'étude : jeudi 17h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10515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56 704 courses — le pic d'activité de la semaine, détecté automatiquement à partir des données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DDDD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73736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5E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26771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6 zones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 automatiquement par score de silhouette (k testé de 2 à 10)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429000"/>
            <a:ext cx="4663440" cy="0"/>
          </a:xfrm>
          <a:prstGeom prst="line">
            <a:avLst/>
          </a:prstGeom>
          <a:noFill/>
          <a:ln w="12700">
            <a:solidFill>
              <a:srgbClr val="EDED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3794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0,46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063240" y="3566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compactes, taille comparable — idéal pour une consigne simple aux chauffeurs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173736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1C1C1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836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83680" y="226771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clusters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583680" y="28346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= 0,0104 — sélectionné par percentiles de la courbe des distances, &lt; 1 % de bruit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0" y="3429000"/>
            <a:ext cx="4663440" cy="0"/>
          </a:xfrm>
          <a:prstGeom prst="line">
            <a:avLst/>
          </a:prstGeom>
          <a:noFill/>
          <a:ln w="12700">
            <a:solidFill>
              <a:srgbClr val="3A3A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83680" y="3794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0,23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8778240" y="3566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C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Épouse la densité réelle, isole le bruit — utile pour l'exploration fine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algorithmes sont complémentaires : silhouette plus haute pour KMeans par construction (clusters compacts), mais DBSCAN révèle mieux la structure de densité réelle.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3" name="Image 0" descr="/home/claude/pptx/icon_databas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71" y="57095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semaine au terrain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DDD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554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HEBDOMADAIRE — AVR.–SEPT. 2014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74520"/>
          <a:ext cx="6400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178040" y="1828800"/>
            <a:ext cx="4480560" cy="4069080"/>
          </a:xfrm>
          <a:prstGeom prst="roundRect">
            <a:avLst>
              <a:gd name="adj" fmla="val 2247"/>
            </a:avLst>
          </a:prstGeom>
          <a:solidFill>
            <a:srgbClr val="1C1C1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498080" y="210312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10" name="Image 1" descr="/home/claude/pptx/icon_check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430" y="2163470"/>
            <a:ext cx="382219" cy="3822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38160" y="2103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croisée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498080" y="27432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C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2015 · 14,3M courses par zones officielles nommées (sans coordonnées GPS)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498080" y="3429000"/>
            <a:ext cx="3931920" cy="0"/>
          </a:xfrm>
          <a:prstGeom prst="line">
            <a:avLst/>
          </a:prstGeom>
          <a:noFill/>
          <a:ln w="12700">
            <a:solidFill>
              <a:srgbClr val="3A3A3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49808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SEMAINE (LUN–VEN)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498080" y="3858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Midtown Center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7498080" y="4251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498080" y="4617720"/>
            <a:ext cx="3931920" cy="0"/>
          </a:xfrm>
          <a:prstGeom prst="line">
            <a:avLst/>
          </a:prstGeom>
          <a:noFill/>
          <a:ln w="12700">
            <a:solidFill>
              <a:srgbClr val="3A3A3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498080" y="4754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WEEK-END (SAM–DIM)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498080" y="5001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 Village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498080" y="5394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confirme la cohérence géographique du clustering GPS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931920"/>
            <a:ext cx="5669280" cy="5669280"/>
          </a:xfrm>
          <a:prstGeom prst="ellipse">
            <a:avLst/>
          </a:prstGeom>
          <a:solidFill>
            <a:srgbClr val="2A2A2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640080" cy="64008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4" name="Image 0" descr="/home/claude/pptx/icon_chec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716890"/>
            <a:ext cx="486461" cy="4864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6400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FC300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1600200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KMeans (5 zones/jour) </a:t>
            </a:r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recommandation en temps réel aux chauffeurs — simple, stable, actionnable. Garder </a:t>
            </a:r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comme outil d'analyse exploratoire pour affiner les zones.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3255264"/>
            <a:ext cx="146304" cy="146304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09067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E4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de demande détecté automatiquement : jeudi 17h, point de départ de toute l'analyse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822192"/>
            <a:ext cx="146304" cy="146304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6576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E4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validée sur les 7 jours, du lundi au dimanche, via un tableau de bord interactif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4389120"/>
            <a:ext cx="146304" cy="146304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22452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E4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confirmés indépendamment par le dataset 2015 (zones nommées)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5166360"/>
            <a:ext cx="10515600" cy="0"/>
          </a:xfrm>
          <a:prstGeom prst="line">
            <a:avLst/>
          </a:prstGeom>
          <a:noFill/>
          <a:ln w="12700">
            <a:solidFill>
              <a:srgbClr val="3A3A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303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POUR LA SUITE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5577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C9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horaire plus fin (matin/soir) et jointure géométrique clusters GPS ↔ zones officielles nommées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2026-09-14T13:05:30Z</dcterms:created>
  <dcterms:modified xsi:type="dcterms:W3CDTF">2026-09-14T13:05:30Z</dcterms:modified>
</cp:coreProperties>
</file>