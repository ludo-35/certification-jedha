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1.png"/><Relationship Id="rId4" Type="http://schemas.openxmlformats.org/officeDocument/2006/relationships/image" Target="../media/image-5-2.png"/><Relationship Id="rId5" Type="http://schemas.openxmlformats.org/officeDocument/2006/relationships/image" Target="../media/image-5-1.png"/><Relationship Id="rId6" Type="http://schemas.openxmlformats.org/officeDocument/2006/relationships/image" Target="../media/image-5-2.png"/><Relationship Id="rId7" Type="http://schemas.openxmlformats.org/officeDocument/2006/relationships/image" Target="../media/image-5-1.png"/><Relationship Id="rId8" Type="http://schemas.openxmlformats.org/officeDocument/2006/relationships/image" Target="../media/image-5-2.png"/><Relationship Id="rId9" Type="http://schemas.openxmlformats.org/officeDocument/2006/relationships/image" Target="../media/image-5-1.png"/><Relationship Id="rId10" Type="http://schemas.openxmlformats.org/officeDocument/2006/relationships/image" Target="../media/image-5-2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8C3D30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754880" cy="4754880"/>
          </a:xfrm>
          <a:prstGeom prst="ellipse">
            <a:avLst/>
          </a:prstGeom>
          <a:solidFill>
            <a:srgbClr val="8C3D3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8C3D30"/>
          </a:solidFill>
          <a:ln/>
        </p:spPr>
      </p:sp>
      <p:pic>
        <p:nvPicPr>
          <p:cNvPr id="5" name="Image 0" descr="/home/claude/icons/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1013155"/>
            <a:ext cx="625450" cy="625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1 — CERTIFICATION DATA SCIENTIST (CDSD)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69748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Kayak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822960" y="3794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de destinations de voyage en France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2377440" cy="18288"/>
          </a:xfrm>
          <a:prstGeom prst="rect">
            <a:avLst/>
          </a:prstGeom>
          <a:solidFill>
            <a:srgbClr val="D9A566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47091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B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d'une infrastructure de données de bout en bout : météo, hôtellerie, data lake et data warehouse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Ludo — Data Scientist en formation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Rassurer des voyageurs sceptiques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Kayak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(groupe Booking Holdings — Booking.com, Priceline, Agoda, OpenTable) veut lancer une application de recommandation de destinations de vacances en France, fondée sur des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réelles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météo et d'hôtellerie plutôt que sur du contenu non sourcé.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4892040"/>
            <a:ext cx="3383280" cy="1417320"/>
          </a:xfrm>
          <a:prstGeom prst="roundRect">
            <a:avLst>
              <a:gd name="adj" fmla="val 7742"/>
            </a:avLst>
          </a:prstGeom>
          <a:solidFill>
            <a:srgbClr val="B85042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4956048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77240" y="56692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voyageurs veulent plus d'informations vérifiées sur leur destination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09160" y="8686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problème à résoudre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09160" y="1600200"/>
            <a:ext cx="457200" cy="457200"/>
          </a:xfrm>
          <a:prstGeom prst="ellipse">
            <a:avLst/>
          </a:prstGeom>
          <a:solidFill>
            <a:srgbClr val="6E8D82"/>
          </a:solidFill>
          <a:ln/>
        </p:spPr>
      </p:sp>
      <p:pic>
        <p:nvPicPr>
          <p:cNvPr id="11" name="Image 0" descr="/home/claude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4024" y="1655064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94960" y="1554480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 marketing n'a aucune donnée exploitable pour construire cette application : tout est à créer à partir de zéro.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709160" y="2560320"/>
            <a:ext cx="457200" cy="457200"/>
          </a:xfrm>
          <a:prstGeom prst="ellipse">
            <a:avLst/>
          </a:prstGeom>
          <a:solidFill>
            <a:srgbClr val="6E8D82"/>
          </a:solidFill>
          <a:ln/>
        </p:spPr>
      </p:sp>
      <p:pic>
        <p:nvPicPr>
          <p:cNvPr id="14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2615184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2514600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utilisateurs se méfient des contenus dont la source n'est pas identifiable ou vérifiable.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4709160" y="3520440"/>
            <a:ext cx="457200" cy="457200"/>
          </a:xfrm>
          <a:prstGeom prst="ellipse">
            <a:avLst/>
          </a:prstGeom>
          <a:solidFill>
            <a:srgbClr val="6E8D82"/>
          </a:solidFill>
          <a:ln/>
        </p:spPr>
      </p:sp>
      <p:pic>
        <p:nvPicPr>
          <p:cNvPr id="17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024" y="357530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94960" y="3474720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bâtir une infrastructure de données fiable pour alimenter, à terme, le moteur de recommandation.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4709160" y="4709160"/>
            <a:ext cx="6903720" cy="1600200"/>
          </a:xfrm>
          <a:prstGeom prst="roundRect">
            <a:avLst>
              <a:gd name="adj" fmla="val 5714"/>
            </a:avLst>
          </a:prstGeom>
          <a:solidFill>
            <a:srgbClr val="F5EFE6"/>
          </a:solidFill>
          <a:ln w="12700">
            <a:solidFill>
              <a:srgbClr val="E4D4C4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029200" y="4892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mission (Bloc 1 — CDSD)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029200" y="5193792"/>
            <a:ext cx="6309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seul, de bout en bout, l'infrastructure de collecte, de stockage (data lake S3) et de mise à disposition (data warehouse SQL) des données météo et hôtelières pour les 35 villes les plus touristiques de France.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Kayak — Recommandation de destinations de voyage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&amp; PÉRIMÈTRE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 étapes, un périmètre ciblé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121408" cy="3063240"/>
          </a:xfrm>
          <a:prstGeom prst="roundRect">
            <a:avLst>
              <a:gd name="adj" fmla="val 4310"/>
            </a:avLst>
          </a:prstGeom>
          <a:solidFill>
            <a:srgbClr val="F5EFE6"/>
          </a:solidFill>
          <a:ln w="12700">
            <a:solidFill>
              <a:srgbClr val="E4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8C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43584" y="2468880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7" name="Image 0" descr="/home/claude/icons/g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366" y="2556662"/>
            <a:ext cx="555955" cy="55595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38328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Coordonnées GPS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3232" y="3931920"/>
            <a:ext cx="17922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Géolocaliser les villes cibles via une API cartographique.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98064" y="1783080"/>
            <a:ext cx="2121408" cy="306324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4D4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35224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8C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493008" y="2468880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3" name="Image 1" descr="/home/claude/icons/weath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0790" y="2556662"/>
            <a:ext cx="555955" cy="55595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35224" y="338328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météo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962656" y="3931920"/>
            <a:ext cx="17922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Récupérer les prévisions à 7 jours pour calculer un indice de « beau temps ».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047488" y="1783080"/>
            <a:ext cx="2121408" cy="3063240"/>
          </a:xfrm>
          <a:prstGeom prst="roundRect">
            <a:avLst>
              <a:gd name="adj" fmla="val 4310"/>
            </a:avLst>
          </a:prstGeom>
          <a:solidFill>
            <a:srgbClr val="F5EFE6"/>
          </a:solidFill>
          <a:ln w="12700">
            <a:solidFill>
              <a:srgbClr val="E4D4C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84648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8C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5742432" y="2468880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9" name="Image 2" descr="/home/claude/icons/hot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214" y="2556662"/>
            <a:ext cx="555955" cy="55595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84648" y="338328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hôtelières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212080" y="3931920"/>
            <a:ext cx="17922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 Booking.com pour chaque ville sélectionnée.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296912" y="1783080"/>
            <a:ext cx="2121408" cy="306324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4D4C4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434072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8C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Shape 19"/>
          <p:cNvSpPr/>
          <p:nvPr/>
        </p:nvSpPr>
        <p:spPr>
          <a:xfrm>
            <a:off x="7991856" y="2468880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5" name="Image 3" descr="/home/claude/icons/datalak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9638" y="2556662"/>
            <a:ext cx="555955" cy="55595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34072" y="338328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461504" y="3931920"/>
            <a:ext cx="17922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Fusionner et stocker l'ensemble des données brutes sur AWS S3.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9546336" y="1783080"/>
            <a:ext cx="2121408" cy="3063240"/>
          </a:xfrm>
          <a:prstGeom prst="roundRect">
            <a:avLst>
              <a:gd name="adj" fmla="val 4310"/>
            </a:avLst>
          </a:prstGeom>
          <a:solidFill>
            <a:srgbClr val="F5EFE6"/>
          </a:solidFill>
          <a:ln w="12700">
            <a:solidFill>
              <a:srgbClr val="E4D4C4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9683496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8C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0" name="Shape 24"/>
          <p:cNvSpPr/>
          <p:nvPr/>
        </p:nvSpPr>
        <p:spPr>
          <a:xfrm>
            <a:off x="10241280" y="2468880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31" name="Image 4" descr="/home/claude/icons/et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9062" y="2556662"/>
            <a:ext cx="555955" cy="555955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683496" y="338328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9710928" y="3931920"/>
            <a:ext cx="17922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Nettoyer et charger les données dans une base SQL (AWS RDS).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548640" y="5166360"/>
            <a:ext cx="11109960" cy="960120"/>
          </a:xfrm>
          <a:prstGeom prst="roundRect">
            <a:avLst>
              <a:gd name="adj" fmla="val 9524"/>
            </a:avLst>
          </a:prstGeom>
          <a:solidFill>
            <a:srgbClr val="6E8D82"/>
          </a:solidFill>
          <a:ln/>
        </p:spPr>
      </p:sp>
      <p:sp>
        <p:nvSpPr>
          <p:cNvPr id="35" name="Text 28"/>
          <p:cNvSpPr/>
          <p:nvPr/>
        </p:nvSpPr>
        <p:spPr>
          <a:xfrm>
            <a:off x="868680" y="516636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35 villes touristiques incontournables de France (classement One Week In.com) — de Mont-Saint-Michel à La Rochelle, en passant par Paris, Lyon, Strasbourg ou Carcassonne.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Kayak — Recommandation de destinations de voyage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pipeline de données, de l'API au data warehouse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2331720"/>
            <a:ext cx="1371600" cy="13716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5" name="Image 0" descr="/home/claude/icons/g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496312"/>
            <a:ext cx="1042416" cy="10424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GPS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74320" y="42062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Adresse (data.gouv.fr) — coordonnées des 35 villes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112264" y="2898648"/>
            <a:ext cx="566928" cy="237744"/>
          </a:xfrm>
          <a:prstGeom prst="rightArrow">
            <a:avLst/>
          </a:prstGeom>
          <a:solidFill>
            <a:srgbClr val="D8C3B4"/>
          </a:solidFill>
          <a:ln/>
        </p:spPr>
      </p:sp>
      <p:sp>
        <p:nvSpPr>
          <p:cNvPr id="9" name="Shape 6"/>
          <p:cNvSpPr/>
          <p:nvPr/>
        </p:nvSpPr>
        <p:spPr>
          <a:xfrm>
            <a:off x="2898648" y="2331720"/>
            <a:ext cx="1371600" cy="13716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0" name="Image 1" descr="/home/claude/icons/weath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2496312"/>
            <a:ext cx="1042416" cy="10424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78608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Météo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2487168" y="42062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 (forecast 7j) — température &amp; pluie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325112" y="2898648"/>
            <a:ext cx="566928" cy="237744"/>
          </a:xfrm>
          <a:prstGeom prst="rightArrow">
            <a:avLst/>
          </a:prstGeom>
          <a:solidFill>
            <a:srgbClr val="D8C3B4"/>
          </a:solidFill>
          <a:ln/>
        </p:spPr>
      </p:sp>
      <p:sp>
        <p:nvSpPr>
          <p:cNvPr id="14" name="Shape 10"/>
          <p:cNvSpPr/>
          <p:nvPr/>
        </p:nvSpPr>
        <p:spPr>
          <a:xfrm>
            <a:off x="5111496" y="2331720"/>
            <a:ext cx="1371600" cy="13716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5" name="Image 2" descr="/home/claude/icons/scrap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88" y="2496312"/>
            <a:ext cx="1042416" cy="10424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91456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4700016" y="42062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sur Booking.com — hôtels du top 5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537960" y="2898648"/>
            <a:ext cx="566928" cy="237744"/>
          </a:xfrm>
          <a:prstGeom prst="rightArrow">
            <a:avLst/>
          </a:prstGeom>
          <a:solidFill>
            <a:srgbClr val="D8C3B4"/>
          </a:solidFill>
          <a:ln/>
        </p:spPr>
      </p:sp>
      <p:sp>
        <p:nvSpPr>
          <p:cNvPr id="19" name="Shape 14"/>
          <p:cNvSpPr/>
          <p:nvPr/>
        </p:nvSpPr>
        <p:spPr>
          <a:xfrm>
            <a:off x="7324344" y="2331720"/>
            <a:ext cx="1371600" cy="13716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0" name="Image 3" descr="/home/claude/icons/datalak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936" y="2496312"/>
            <a:ext cx="1042416" cy="104241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04304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912864" y="42062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des données, stockage CSV sur AWS S3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8750808" y="2898648"/>
            <a:ext cx="566928" cy="237744"/>
          </a:xfrm>
          <a:prstGeom prst="rightArrow">
            <a:avLst/>
          </a:prstGeom>
          <a:solidFill>
            <a:srgbClr val="D8C3B4"/>
          </a:solidFill>
          <a:ln/>
        </p:spPr>
      </p:sp>
      <p:sp>
        <p:nvSpPr>
          <p:cNvPr id="24" name="Shape 18"/>
          <p:cNvSpPr/>
          <p:nvPr/>
        </p:nvSpPr>
        <p:spPr>
          <a:xfrm>
            <a:off x="9537192" y="2331720"/>
            <a:ext cx="1371600" cy="1371600"/>
          </a:xfrm>
          <a:prstGeom prst="ellipse">
            <a:avLst/>
          </a:prstGeom>
          <a:solidFill>
            <a:srgbClr val="6E8D82"/>
          </a:solidFill>
          <a:ln/>
        </p:spPr>
      </p:sp>
      <p:pic>
        <p:nvPicPr>
          <p:cNvPr id="25" name="Image 4" descr="/home/claude/icons/et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2496312"/>
            <a:ext cx="1042416" cy="104241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217152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→ SQL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9125712" y="42062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Extraction, nettoyage, chargement sur AWS RDS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548640" y="5166360"/>
            <a:ext cx="111099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D4C4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868680" y="516636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identifiants AWS et RDS ne sont jamais codés en dur — ils sont chargés depuis un fichier .env via python-dotenv, à chaque étape du pipeline.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Kayak — Recommandation de destinations de voyage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top 5 des destinations « beau temps »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sur 7 jours de prévisions : probabilité de pluie la plus faible, puis température moyenne la plus élevée.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121408" cy="3383280"/>
          </a:xfrm>
          <a:prstGeom prst="roundRect">
            <a:avLst>
              <a:gd name="adj" fmla="val 4310"/>
            </a:avLst>
          </a:prstGeom>
          <a:solidFill>
            <a:srgbClr val="B85042"/>
          </a:solidFill>
          <a:ln/>
          <a:effectLst>
            <a:outerShdw sx="100000" sy="100000" kx="0" ky="0" algn="bl" rotWithShape="0" blurRad="101600" dist="38100" dir="54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1945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D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624328"/>
            <a:ext cx="184708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Dijon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13232" y="3474720"/>
            <a:ext cx="502920" cy="502920"/>
          </a:xfrm>
          <a:prstGeom prst="ellipse">
            <a:avLst/>
          </a:prstGeom>
          <a:solidFill>
            <a:srgbClr val="8C3D30"/>
          </a:solidFill>
          <a:ln/>
        </p:spPr>
      </p:sp>
      <p:pic>
        <p:nvPicPr>
          <p:cNvPr id="9" name="Image 0" descr="/home/claude/icons/ther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582" y="3535070"/>
            <a:ext cx="382219" cy="38221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3474720"/>
            <a:ext cx="1207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17,8 °C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3232" y="4114800"/>
            <a:ext cx="502920" cy="502920"/>
          </a:xfrm>
          <a:prstGeom prst="ellipse">
            <a:avLst/>
          </a:prstGeom>
          <a:solidFill>
            <a:srgbClr val="8C3D30"/>
          </a:solidFill>
          <a:ln/>
        </p:spPr>
      </p:sp>
      <p:pic>
        <p:nvPicPr>
          <p:cNvPr id="12" name="Image 1" descr="/home/claude/icons/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82" y="4175150"/>
            <a:ext cx="382219" cy="38221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4114800"/>
            <a:ext cx="1207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0 %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85800" y="466344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prob. de pluie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2798064" y="2057400"/>
            <a:ext cx="2121408" cy="3383280"/>
          </a:xfrm>
          <a:prstGeom prst="roundRect">
            <a:avLst>
              <a:gd name="adj" fmla="val 4310"/>
            </a:avLst>
          </a:prstGeom>
          <a:solidFill>
            <a:srgbClr val="F5EFE6"/>
          </a:solidFill>
          <a:ln/>
        </p:spPr>
      </p:sp>
      <p:sp>
        <p:nvSpPr>
          <p:cNvPr id="16" name="Text 12"/>
          <p:cNvSpPr/>
          <p:nvPr/>
        </p:nvSpPr>
        <p:spPr>
          <a:xfrm>
            <a:off x="2935224" y="21945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C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2935224" y="2624328"/>
            <a:ext cx="184708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E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Montauban</a:t>
            </a:r>
            <a:endParaRPr lang="en-US" sz="1650" dirty="0"/>
          </a:p>
        </p:txBody>
      </p:sp>
      <p:sp>
        <p:nvSpPr>
          <p:cNvPr id="18" name="Shape 14"/>
          <p:cNvSpPr/>
          <p:nvPr/>
        </p:nvSpPr>
        <p:spPr>
          <a:xfrm>
            <a:off x="2962656" y="3474720"/>
            <a:ext cx="502920" cy="502920"/>
          </a:xfrm>
          <a:prstGeom prst="ellipse">
            <a:avLst/>
          </a:prstGeom>
          <a:solidFill>
            <a:srgbClr val="6E8D82"/>
          </a:solidFill>
          <a:ln/>
        </p:spPr>
      </p:sp>
      <p:pic>
        <p:nvPicPr>
          <p:cNvPr id="19" name="Image 2" descr="/home/claude/icons/therm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3006" y="3535070"/>
            <a:ext cx="382219" cy="38221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575304" y="3474720"/>
            <a:ext cx="1207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21,3 °C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2962656" y="4114800"/>
            <a:ext cx="502920" cy="502920"/>
          </a:xfrm>
          <a:prstGeom prst="ellipse">
            <a:avLst/>
          </a:prstGeom>
          <a:solidFill>
            <a:srgbClr val="6E8D82"/>
          </a:solidFill>
          <a:ln/>
        </p:spPr>
      </p:sp>
      <p:pic>
        <p:nvPicPr>
          <p:cNvPr id="22" name="Image 3" descr="/home/claude/icons/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3006" y="4175150"/>
            <a:ext cx="382219" cy="38221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575304" y="4114800"/>
            <a:ext cx="1207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0,5 %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2935224" y="466344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prob. de pluie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5047488" y="2057400"/>
            <a:ext cx="2121408" cy="3383280"/>
          </a:xfrm>
          <a:prstGeom prst="roundRect">
            <a:avLst>
              <a:gd name="adj" fmla="val 4310"/>
            </a:avLst>
          </a:prstGeom>
          <a:solidFill>
            <a:srgbClr val="F5EFE6"/>
          </a:solidFill>
          <a:ln/>
        </p:spPr>
      </p:sp>
      <p:sp>
        <p:nvSpPr>
          <p:cNvPr id="26" name="Text 20"/>
          <p:cNvSpPr/>
          <p:nvPr/>
        </p:nvSpPr>
        <p:spPr>
          <a:xfrm>
            <a:off x="5184648" y="21945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C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5184648" y="2624328"/>
            <a:ext cx="184708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E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Cassis</a:t>
            </a:r>
            <a:endParaRPr lang="en-US" sz="1650" dirty="0"/>
          </a:p>
        </p:txBody>
      </p:sp>
      <p:sp>
        <p:nvSpPr>
          <p:cNvPr id="28" name="Shape 22"/>
          <p:cNvSpPr/>
          <p:nvPr/>
        </p:nvSpPr>
        <p:spPr>
          <a:xfrm>
            <a:off x="5212080" y="3474720"/>
            <a:ext cx="502920" cy="502920"/>
          </a:xfrm>
          <a:prstGeom prst="ellipse">
            <a:avLst/>
          </a:prstGeom>
          <a:solidFill>
            <a:srgbClr val="6E8D82"/>
          </a:solidFill>
          <a:ln/>
        </p:spPr>
      </p:sp>
      <p:pic>
        <p:nvPicPr>
          <p:cNvPr id="29" name="Image 4" descr="/home/claude/icons/therm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2430" y="3535070"/>
            <a:ext cx="382219" cy="382219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824728" y="3474720"/>
            <a:ext cx="1207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21,8 °C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5212080" y="4114800"/>
            <a:ext cx="502920" cy="502920"/>
          </a:xfrm>
          <a:prstGeom prst="ellipse">
            <a:avLst/>
          </a:prstGeom>
          <a:solidFill>
            <a:srgbClr val="6E8D82"/>
          </a:solidFill>
          <a:ln/>
        </p:spPr>
      </p:sp>
      <p:pic>
        <p:nvPicPr>
          <p:cNvPr id="32" name="Image 5" descr="/home/claude/icons/ra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2430" y="4175150"/>
            <a:ext cx="382219" cy="382219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824728" y="4114800"/>
            <a:ext cx="1207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1,3 %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5184648" y="466344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prob. de pluie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7296912" y="2057400"/>
            <a:ext cx="2121408" cy="3383280"/>
          </a:xfrm>
          <a:prstGeom prst="roundRect">
            <a:avLst>
              <a:gd name="adj" fmla="val 4310"/>
            </a:avLst>
          </a:prstGeom>
          <a:solidFill>
            <a:srgbClr val="F5EFE6"/>
          </a:solidFill>
          <a:ln/>
        </p:spPr>
      </p:sp>
      <p:sp>
        <p:nvSpPr>
          <p:cNvPr id="36" name="Text 28"/>
          <p:cNvSpPr/>
          <p:nvPr/>
        </p:nvSpPr>
        <p:spPr>
          <a:xfrm>
            <a:off x="7434072" y="21945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C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#4</a:t>
            </a:r>
            <a:endParaRPr lang="en-US" sz="1800" dirty="0"/>
          </a:p>
        </p:txBody>
      </p:sp>
      <p:sp>
        <p:nvSpPr>
          <p:cNvPr id="37" name="Text 29"/>
          <p:cNvSpPr/>
          <p:nvPr/>
        </p:nvSpPr>
        <p:spPr>
          <a:xfrm>
            <a:off x="7434072" y="2624328"/>
            <a:ext cx="184708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E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Bormes-les-Mimosas</a:t>
            </a:r>
            <a:endParaRPr lang="en-US" sz="1650" dirty="0"/>
          </a:p>
        </p:txBody>
      </p:sp>
      <p:sp>
        <p:nvSpPr>
          <p:cNvPr id="38" name="Shape 30"/>
          <p:cNvSpPr/>
          <p:nvPr/>
        </p:nvSpPr>
        <p:spPr>
          <a:xfrm>
            <a:off x="7461504" y="3474720"/>
            <a:ext cx="502920" cy="502920"/>
          </a:xfrm>
          <a:prstGeom prst="ellipse">
            <a:avLst/>
          </a:prstGeom>
          <a:solidFill>
            <a:srgbClr val="6E8D82"/>
          </a:solidFill>
          <a:ln/>
        </p:spPr>
      </p:sp>
      <p:pic>
        <p:nvPicPr>
          <p:cNvPr id="39" name="Image 6" descr="/home/claude/icons/therm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1854" y="3535070"/>
            <a:ext cx="382219" cy="382219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8074152" y="3474720"/>
            <a:ext cx="1207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22,8 °C</a:t>
            </a:r>
            <a:endParaRPr lang="en-US" sz="1500" dirty="0"/>
          </a:p>
        </p:txBody>
      </p:sp>
      <p:sp>
        <p:nvSpPr>
          <p:cNvPr id="41" name="Shape 32"/>
          <p:cNvSpPr/>
          <p:nvPr/>
        </p:nvSpPr>
        <p:spPr>
          <a:xfrm>
            <a:off x="7461504" y="4114800"/>
            <a:ext cx="502920" cy="502920"/>
          </a:xfrm>
          <a:prstGeom prst="ellipse">
            <a:avLst/>
          </a:prstGeom>
          <a:solidFill>
            <a:srgbClr val="6E8D82"/>
          </a:solidFill>
          <a:ln/>
        </p:spPr>
      </p:sp>
      <p:pic>
        <p:nvPicPr>
          <p:cNvPr id="42" name="Image 7" descr="/home/claude/icons/rai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1854" y="4175150"/>
            <a:ext cx="382219" cy="382219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8074152" y="4114800"/>
            <a:ext cx="1207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1,4 %</a:t>
            </a:r>
            <a:endParaRPr lang="en-US" sz="1500" dirty="0"/>
          </a:p>
        </p:txBody>
      </p:sp>
      <p:sp>
        <p:nvSpPr>
          <p:cNvPr id="44" name="Text 34"/>
          <p:cNvSpPr/>
          <p:nvPr/>
        </p:nvSpPr>
        <p:spPr>
          <a:xfrm>
            <a:off x="7434072" y="466344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prob. de pluie</a:t>
            </a:r>
            <a:endParaRPr lang="en-US" sz="900" dirty="0"/>
          </a:p>
        </p:txBody>
      </p:sp>
      <p:sp>
        <p:nvSpPr>
          <p:cNvPr id="45" name="Shape 35"/>
          <p:cNvSpPr/>
          <p:nvPr/>
        </p:nvSpPr>
        <p:spPr>
          <a:xfrm>
            <a:off x="9546336" y="2057400"/>
            <a:ext cx="2121408" cy="3383280"/>
          </a:xfrm>
          <a:prstGeom prst="roundRect">
            <a:avLst>
              <a:gd name="adj" fmla="val 4310"/>
            </a:avLst>
          </a:prstGeom>
          <a:solidFill>
            <a:srgbClr val="F5EFE6"/>
          </a:solidFill>
          <a:ln/>
        </p:spPr>
      </p:sp>
      <p:sp>
        <p:nvSpPr>
          <p:cNvPr id="46" name="Text 36"/>
          <p:cNvSpPr/>
          <p:nvPr/>
        </p:nvSpPr>
        <p:spPr>
          <a:xfrm>
            <a:off x="9683496" y="21945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C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#5</a:t>
            </a:r>
            <a:endParaRPr lang="en-US" sz="1800" dirty="0"/>
          </a:p>
        </p:txBody>
      </p:sp>
      <p:sp>
        <p:nvSpPr>
          <p:cNvPr id="47" name="Text 37"/>
          <p:cNvSpPr/>
          <p:nvPr/>
        </p:nvSpPr>
        <p:spPr>
          <a:xfrm>
            <a:off x="9683496" y="2624328"/>
            <a:ext cx="184708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E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Aigues-Mortes</a:t>
            </a:r>
            <a:endParaRPr lang="en-US" sz="1650" dirty="0"/>
          </a:p>
        </p:txBody>
      </p:sp>
      <p:sp>
        <p:nvSpPr>
          <p:cNvPr id="48" name="Shape 38"/>
          <p:cNvSpPr/>
          <p:nvPr/>
        </p:nvSpPr>
        <p:spPr>
          <a:xfrm>
            <a:off x="9710928" y="3474720"/>
            <a:ext cx="502920" cy="502920"/>
          </a:xfrm>
          <a:prstGeom prst="ellipse">
            <a:avLst/>
          </a:prstGeom>
          <a:solidFill>
            <a:srgbClr val="6E8D82"/>
          </a:solidFill>
          <a:ln/>
        </p:spPr>
      </p:sp>
      <p:pic>
        <p:nvPicPr>
          <p:cNvPr id="49" name="Image 8" descr="/home/claude/icons/thermo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71278" y="3535070"/>
            <a:ext cx="382219" cy="382219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10323576" y="3474720"/>
            <a:ext cx="1207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22,8 °C</a:t>
            </a:r>
            <a:endParaRPr lang="en-US" sz="1500" dirty="0"/>
          </a:p>
        </p:txBody>
      </p:sp>
      <p:sp>
        <p:nvSpPr>
          <p:cNvPr id="51" name="Shape 40"/>
          <p:cNvSpPr/>
          <p:nvPr/>
        </p:nvSpPr>
        <p:spPr>
          <a:xfrm>
            <a:off x="9710928" y="4114800"/>
            <a:ext cx="502920" cy="502920"/>
          </a:xfrm>
          <a:prstGeom prst="ellipse">
            <a:avLst/>
          </a:prstGeom>
          <a:solidFill>
            <a:srgbClr val="6E8D82"/>
          </a:solidFill>
          <a:ln/>
        </p:spPr>
      </p:sp>
      <p:pic>
        <p:nvPicPr>
          <p:cNvPr id="52" name="Image 9" descr="/home/claude/icons/rai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71278" y="4175150"/>
            <a:ext cx="382219" cy="382219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10323576" y="4114800"/>
            <a:ext cx="1207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1,4 %</a:t>
            </a:r>
            <a:endParaRPr lang="en-US" sz="1500" dirty="0"/>
          </a:p>
        </p:txBody>
      </p:sp>
      <p:sp>
        <p:nvSpPr>
          <p:cNvPr id="54" name="Text 42"/>
          <p:cNvSpPr/>
          <p:nvPr/>
        </p:nvSpPr>
        <p:spPr>
          <a:xfrm>
            <a:off x="9683496" y="466344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prob. de pluie</a:t>
            </a:r>
            <a:endParaRPr lang="en-US" sz="900" dirty="0"/>
          </a:p>
        </p:txBody>
      </p:sp>
      <p:sp>
        <p:nvSpPr>
          <p:cNvPr id="55" name="Text 43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5 villes sont ensuite affichées sur une carte interactive Plotly, et utilisées comme périmètre pour le scraping hôtelier.</a:t>
            </a:r>
            <a:endParaRPr lang="en-US" sz="1200" dirty="0"/>
          </a:p>
        </p:txBody>
      </p:sp>
      <p:sp>
        <p:nvSpPr>
          <p:cNvPr id="56" name="Text 4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Kayak — Recommandation de destinations de voyage</a:t>
            </a:r>
            <a:endParaRPr lang="en-US" sz="900" dirty="0"/>
          </a:p>
        </p:txBody>
      </p:sp>
      <p:sp>
        <p:nvSpPr>
          <p:cNvPr id="57" name="Text 4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&amp; STOCKAGE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hôtels scrapés, un data lake sur AWS S3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Booking.com (Selenium)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76272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Navigateur piloté par Selenium + webdriver-manager, avec un user-agent réaliste pour limiter la détection.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953512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progressif simulé pour charger jusqu'à 20 hôtels par ville (comportement humain).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30752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: nom, note, description, URL, latitude/longitude de chaque hôtel.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5760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846320"/>
            <a:ext cx="5257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hôtels collectés (5 villes × 20 hôtels), fusionnés avec les données météo/GPS dans un DataFrame unique.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720840" y="1783080"/>
            <a:ext cx="4937760" cy="4434840"/>
          </a:xfrm>
          <a:prstGeom prst="roundRect">
            <a:avLst>
              <a:gd name="adj" fmla="val 2474"/>
            </a:avLst>
          </a:prstGeom>
          <a:solidFill>
            <a:srgbClr val="8C3D30"/>
          </a:solidFill>
          <a:ln/>
        </p:spPr>
      </p:sp>
      <p:sp>
        <p:nvSpPr>
          <p:cNvPr id="15" name="Shape 13"/>
          <p:cNvSpPr/>
          <p:nvPr/>
        </p:nvSpPr>
        <p:spPr>
          <a:xfrm>
            <a:off x="7086600" y="2103120"/>
            <a:ext cx="685800" cy="6858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6" name="Image 0" descr="/home/claude/icons/a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8896" y="2185416"/>
            <a:ext cx="521208" cy="5212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909560" y="21488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→ Data Warehouse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086600" y="297180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9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686" y="3017886"/>
            <a:ext cx="291876" cy="29187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635240" y="2916936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villes + hôtels → CSV unique versé sur un bucket AWS S3 (data lake).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7086600" y="3730752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2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686" y="3776838"/>
            <a:ext cx="291876" cy="29187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635240" y="367588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du CSV depuis S3, nettoyage (notes, colonnes) avec Pandas.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7086600" y="4489704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5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686" y="4535790"/>
            <a:ext cx="291876" cy="29187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635240" y="44348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dans une base PostgreSQL AWS RDS via SQLAlchemy (data warehouse).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7086600" y="5248656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8" name="Image 4" descr="/home/claude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686" y="5294742"/>
            <a:ext cx="291876" cy="29187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635240" y="519379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Identifiants AWS/RDS gérés en variables d'environnement (.env, python-dotenv).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Kayak — Recommandation de destinations de voyage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8C3D30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5029200" cy="5029200"/>
          </a:xfrm>
          <a:prstGeom prst="ellipse">
            <a:avLst/>
          </a:prstGeom>
          <a:solidFill>
            <a:srgbClr val="8C3D3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infrastructure prête à alimenter le moteur de recommandation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Requests · Nominatim / API Adresse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9443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OpenWeatherMap · Pandas · NumPy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32841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Selenium · webdriver-manager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71246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Plotly (cartes interactives)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409651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AWS S3 · AWS RDS (PostgreSQL)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4480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SQLAlchemy · python-dotenv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2103120"/>
            <a:ext cx="5440680" cy="3246120"/>
          </a:xfrm>
          <a:prstGeom prst="roundRect">
            <a:avLst>
              <a:gd name="adj" fmla="val 3380"/>
            </a:avLst>
          </a:prstGeom>
          <a:solidFill>
            <a:srgbClr val="8C3D3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331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produits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2834640"/>
            <a:ext cx="365760" cy="365760"/>
          </a:xfrm>
          <a:prstGeom prst="ellipse">
            <a:avLst/>
          </a:prstGeom>
          <a:solidFill>
            <a:srgbClr val="D9A566"/>
          </a:solidFill>
          <a:ln/>
        </p:spPr>
      </p:sp>
      <p:pic>
        <p:nvPicPr>
          <p:cNvPr id="16" name="Image 0" descr="/home/claude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4691" y="2878531"/>
            <a:ext cx="277978" cy="27797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903720" y="2798064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enrichi (météo + hôtels) stocké sur S3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0" y="3493008"/>
            <a:ext cx="365760" cy="365760"/>
          </a:xfrm>
          <a:prstGeom prst="ellipse">
            <a:avLst/>
          </a:prstGeom>
          <a:solidFill>
            <a:srgbClr val="D9A566"/>
          </a:solidFill>
          <a:ln/>
        </p:spPr>
      </p:sp>
      <p:pic>
        <p:nvPicPr>
          <p:cNvPr id="19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691" y="3536899"/>
            <a:ext cx="277978" cy="27797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903720" y="3456432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SQL interrogeable sur AWS RDS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400800" y="4151376"/>
            <a:ext cx="365760" cy="365760"/>
          </a:xfrm>
          <a:prstGeom prst="ellipse">
            <a:avLst/>
          </a:prstGeom>
          <a:solidFill>
            <a:srgbClr val="D9A566"/>
          </a:solidFill>
          <a:ln/>
        </p:spPr>
      </p:sp>
      <p:pic>
        <p:nvPicPr>
          <p:cNvPr id="22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691" y="4195267"/>
            <a:ext cx="277978" cy="27797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903720" y="411480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du top 5 des destinations (Plotly)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400800" y="4809744"/>
            <a:ext cx="365760" cy="365760"/>
          </a:xfrm>
          <a:prstGeom prst="ellipse">
            <a:avLst/>
          </a:prstGeom>
          <a:solidFill>
            <a:srgbClr val="D9A566"/>
          </a:solidFill>
          <a:ln/>
        </p:spPr>
      </p:sp>
      <p:pic>
        <p:nvPicPr>
          <p:cNvPr id="25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691" y="4853635"/>
            <a:ext cx="277978" cy="27797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03720" y="477316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reproductible et sécurisé (.env)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640080" y="5623560"/>
            <a:ext cx="2011680" cy="18288"/>
          </a:xfrm>
          <a:prstGeom prst="rect">
            <a:avLst/>
          </a:prstGeom>
          <a:solidFill>
            <a:srgbClr val="D9A566"/>
          </a:solidFill>
          <a:ln/>
        </p:spPr>
      </p:sp>
      <p:sp>
        <p:nvSpPr>
          <p:cNvPr id="28" name="Text 22"/>
          <p:cNvSpPr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5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: automatiser le pipeline (orchestration Airflow), enrichir le score « beau temps », et brancher un moteur de recommandation applicatif sur ce data warehouse.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2026-09-14T16:53:45Z</dcterms:created>
  <dcterms:modified xsi:type="dcterms:W3CDTF">2026-09-14T16:53:45Z</dcterms:modified>
</cp:coreProperties>
</file>