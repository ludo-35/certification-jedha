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(min)</c:v>
                </c:pt>
              </c:strCache>
            </c:strRef>
          </c:tx>
          <c:spPr>
            <a:solidFill>
              <a:srgbClr val="FFB70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DF1-4BBF-BB48-95638E05A2E5}"/>
              </c:ext>
            </c:extLst>
          </c:dPt>
          <c:dPt>
            <c:idx val="1"/>
            <c:invertIfNegative val="0"/>
            <c:bubble3D val="0"/>
            <c:spPr>
              <a:solidFill>
                <a:srgbClr val="9DB4C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DF1-4BBF-BB48-95638E05A2E5}"/>
              </c:ext>
            </c:extLst>
          </c:dPt>
          <c:dPt>
            <c:idx val="2"/>
            <c:invertIfNegative val="0"/>
            <c:bubble3D val="0"/>
            <c:spPr>
              <a:solidFill>
                <a:srgbClr val="9DB4C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DF1-4BBF-BB48-95638E05A2E5}"/>
              </c:ext>
            </c:extLst>
          </c:dPt>
          <c:dPt>
            <c:idx val="3"/>
            <c:invertIfNegative val="0"/>
            <c:bubble3D val="0"/>
            <c:spPr>
              <a:solidFill>
                <a:srgbClr val="9DB4C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DF1-4BBF-BB48-95638E05A2E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Modèle XGBoost</c:v>
                </c:pt>
                <c:pt idx="1">
                  <c:v>Historique compagnie</c:v>
                </c:pt>
                <c:pt idx="2">
                  <c:v>Moyenne globale</c:v>
                </c:pt>
                <c:pt idx="3">
                  <c:v>Toujours 0 min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12.75</c:v>
                </c:pt>
                <c:pt idx="1">
                  <c:v>14.03</c:v>
                </c:pt>
                <c:pt idx="2">
                  <c:v>17.29</c:v>
                </c:pt>
                <c:pt idx="3">
                  <c:v>18.97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DF1-4BBF-BB48-95638E05A2E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222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85816" y="960120"/>
            <a:ext cx="914400" cy="914400"/>
          </a:xfrm>
          <a:prstGeom prst="ellipse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icons/plane_depar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60704"/>
            <a:ext cx="713232" cy="713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19456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FlyOnTime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1371600" y="324612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Prévision des retards de vols commerciaux — 5 aéroports français, jusqu'à 72h à l'avance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0" y="56692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fin de formation  ·  Bloc 6 — Direction de projets de gestion de données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Ludo  ·  Patrick  ·  Jedha Bootcamp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LE PROBLÈME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ce projet 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61" y="1655521"/>
            <a:ext cx="392278" cy="3922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002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retard aérien n'est jamais un problème isolé : 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se propage à toute la chaîne — correspondances ratées, coûts d'escale pour les compagnies, sous- ou sur-effectifs pour les commerces aéroportuaires.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651760"/>
            <a:ext cx="11091672" cy="155448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868680" y="2926080"/>
            <a:ext cx="685800" cy="685800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9" name="Image 1" descr="icons/st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118" y="3001518"/>
            <a:ext cx="534924" cy="5349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28803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fil rouge du projet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737360" y="324612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boutique en zone aéroportuaire doit décider, chaque jour, combien de croissants commander et combien de vendeurs planifier. Sans visibilité sur les retards à venir, cette décision se fait à l'aveugle.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443484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9"/>
          <p:cNvSpPr/>
          <p:nvPr/>
        </p:nvSpPr>
        <p:spPr>
          <a:xfrm>
            <a:off x="548640" y="44348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Aujourd'hui, cette anticipation n'existe pas de façon fiable et accessible.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48640" y="5120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Objectif : prédire, en minutes, le retard au décollage ET à l'arrivée, jusqu'à 72h à l'avance.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FlyOnTime — Ludo · Patrick · Jedha Bootcamp · Bloc 6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LES DONNÉES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Avec quoi travaillons-nous 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640080" cy="640080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icons/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89" y="2082089"/>
            <a:ext cx="499262" cy="499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889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Mouvements de vols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3375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~920 000 vols — horaires, compagnie, statut, retard réel observé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4663440" y="2011680"/>
            <a:ext cx="640080" cy="640080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icons/cloud_su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849" y="2082089"/>
            <a:ext cx="499262" cy="4992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7889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Climatologie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17720" y="33375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aéroports, observations horaires (température, vent, précipitations)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8458200" y="2011680"/>
            <a:ext cx="640080" cy="640080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icons/chart_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8609" y="2082089"/>
            <a:ext cx="499262" cy="4992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7889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Retards agrégés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12480" y="33375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Indices de retard moyen par aéroport, fenêtres glissantes de 2h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61772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5"/>
          <p:cNvSpPr/>
          <p:nvPr/>
        </p:nvSpPr>
        <p:spPr>
          <a:xfrm>
            <a:off x="548640" y="461772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 jours de données   ·   5 aéroports (CDG · Orly · Lyon · Nice · Marseille)   ·   sept. 2025 → mars 2026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48640" y="5486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Croisées ensemble : trafic × météo × contexte de retard, à l'échelle du vol individuel.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FlyOnTime — Ludo · Patrick · Jedha Bootcamp · Bloc 6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SOLUTIONS MISES EN ŒUVRE  —  1/3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engineering, sans fuite de données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10332720" cy="0"/>
          </a:xfrm>
          <a:prstGeom prst="line">
            <a:avLst/>
          </a:prstGeom>
          <a:noFill/>
          <a:ln w="25400">
            <a:solidFill>
              <a:srgbClr val="3D56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32104" y="1746504"/>
            <a:ext cx="164592" cy="164592"/>
          </a:xfrm>
          <a:prstGeom prst="ellipse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-91440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J-72h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-27432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E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98464" y="1746504"/>
            <a:ext cx="164592" cy="164592"/>
          </a:xfrm>
          <a:prstGeom prst="ellipse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074920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 72h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E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donnée utilisée ici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1164824" y="1746504"/>
            <a:ext cx="164592" cy="164592"/>
          </a:xfrm>
          <a:prstGeom prst="ellipse">
            <a:avLst/>
          </a:prstGeom>
          <a:solidFill>
            <a:srgbClr val="8FA3C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0241280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Décollage réel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E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revised_utc, runway_utc, status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4400" y="27432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 scheduled_utc (l'horaire théorique) est utilisable comme feature temporelle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347472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16305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1252728" y="3749040"/>
            <a:ext cx="594360" cy="594360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0" descr="icons/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108" y="3814420"/>
            <a:ext cx="463601" cy="463601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77240" y="44805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77240" y="493776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heure, jour, vacances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898648" y="347472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16305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8"/>
          <p:cNvSpPr/>
          <p:nvPr/>
        </p:nvSpPr>
        <p:spPr>
          <a:xfrm>
            <a:off x="3465576" y="3749040"/>
            <a:ext cx="594360" cy="594360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1" descr="icons/ro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0956" y="3814420"/>
            <a:ext cx="463601" cy="463601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990088" y="44805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 planifié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2990088" y="493776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vols/heure/aéroport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111496" y="347472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16305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2"/>
          <p:cNvSpPr/>
          <p:nvPr/>
        </p:nvSpPr>
        <p:spPr>
          <a:xfrm>
            <a:off x="5678424" y="3749040"/>
            <a:ext cx="594360" cy="594360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7" name="Image 2" descr="icons/histo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3804" y="3814420"/>
            <a:ext cx="463601" cy="463601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202936" y="44805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30j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5202936" y="493776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compagnie, aéroport (gap 3j)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7324344" y="347472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16305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6"/>
          <p:cNvSpPr/>
          <p:nvPr/>
        </p:nvSpPr>
        <p:spPr>
          <a:xfrm>
            <a:off x="7891272" y="3749040"/>
            <a:ext cx="594360" cy="594360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2" name="Image 3" descr="icons/cloud_su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6652" y="3814420"/>
            <a:ext cx="463601" cy="463601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15784" y="44805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Météo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7415784" y="493776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climatologie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9537192" y="347472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16305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0"/>
          <p:cNvSpPr/>
          <p:nvPr/>
        </p:nvSpPr>
        <p:spPr>
          <a:xfrm>
            <a:off x="10104120" y="3749040"/>
            <a:ext cx="594360" cy="594360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7" name="Image 4" descr="icons/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69500" y="3814420"/>
            <a:ext cx="463601" cy="463601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9628632" y="44805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mouvement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9628632" y="493776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départ / arrivée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FlyOnTime — Ludo · Patrick · Jedha Bootcamp · Bloc 6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SOLUTIONS MISES EN ŒUVRE  —  2/3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modèle : XGBoost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icons/char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61" y="1746961"/>
            <a:ext cx="392278" cy="3922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91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modèle pour départs et arrivées (flag is_departure)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660 775 vols après nettoyage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TEMPOREL : entraînement jusqu'à début mars, test sur les 3 dernières semaines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de sécurité de 3 jours entre train et test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expériences avec MLflow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035040" y="16916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moyenne (MAE, en minutes — plus bas = meilleur)</a:t>
            </a:r>
            <a:endParaRPr lang="en-US" sz="12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6035040" y="2103120"/>
          <a:ext cx="55778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562356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7"/>
          <p:cNvSpPr/>
          <p:nvPr/>
        </p:nvSpPr>
        <p:spPr>
          <a:xfrm>
            <a:off x="548640" y="562356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12,75 min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bat la meilleure baseline de 1,3 min, validé sur des vols jamais vus à l'entraînement.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FlyOnTime — Ludo · Patrick · Jedha Bootcamp · Bloc 6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SOLUTIONS MISES EN ŒUVRE  —  3/3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technique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16305A"/>
          </a:solidFill>
          <a:ln w="12700">
            <a:solidFill>
              <a:srgbClr val="3E7CB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13232" y="1723644"/>
            <a:ext cx="438912" cy="438912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512" y="1771924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60020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S3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743200" y="1943100"/>
            <a:ext cx="685800" cy="0"/>
          </a:xfrm>
          <a:prstGeom prst="line">
            <a:avLst/>
          </a:prstGeom>
          <a:noFill/>
          <a:ln w="25400">
            <a:solidFill>
              <a:srgbClr val="FFB703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3429000" y="160020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16305A"/>
          </a:solidFill>
          <a:ln w="12700">
            <a:solidFill>
              <a:srgbClr val="3E7CB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3593592" y="1723644"/>
            <a:ext cx="438912" cy="438912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icons/chart_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872" y="1771924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14800" y="160020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</a:t>
            </a:r>
            <a:endParaRPr lang="en-US" sz="1250" dirty="0"/>
          </a:p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MLflow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806440" y="1943100"/>
            <a:ext cx="685800" cy="0"/>
          </a:xfrm>
          <a:prstGeom prst="line">
            <a:avLst/>
          </a:prstGeom>
          <a:noFill/>
          <a:ln w="25400">
            <a:solidFill>
              <a:srgbClr val="FFB703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0"/>
          <p:cNvSpPr/>
          <p:nvPr/>
        </p:nvSpPr>
        <p:spPr>
          <a:xfrm>
            <a:off x="6492240" y="160020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6656832" y="1723644"/>
            <a:ext cx="438912" cy="438912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112" y="1771924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78040" y="160020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7498080" y="2286000"/>
            <a:ext cx="0" cy="777240"/>
          </a:xfrm>
          <a:prstGeom prst="line">
            <a:avLst/>
          </a:prstGeom>
          <a:noFill/>
          <a:ln w="25400">
            <a:solidFill>
              <a:srgbClr val="FFB703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4"/>
          <p:cNvSpPr/>
          <p:nvPr/>
        </p:nvSpPr>
        <p:spPr>
          <a:xfrm>
            <a:off x="548640" y="342900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16305A"/>
          </a:solidFill>
          <a:ln w="12700">
            <a:solidFill>
              <a:srgbClr val="3E7CB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713232" y="3621024"/>
            <a:ext cx="438912" cy="438912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3" descr="icons/rou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512" y="3669304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34440" y="34290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AeroDataBox</a:t>
            </a:r>
            <a:endParaRPr lang="en-US" sz="1250" dirty="0"/>
          </a:p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(vrais vols)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3200400" y="3840480"/>
            <a:ext cx="594360" cy="0"/>
          </a:xfrm>
          <a:prstGeom prst="line">
            <a:avLst/>
          </a:prstGeom>
          <a:noFill/>
          <a:ln w="25400">
            <a:solidFill>
              <a:srgbClr val="FFB703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18"/>
          <p:cNvSpPr/>
          <p:nvPr/>
        </p:nvSpPr>
        <p:spPr>
          <a:xfrm>
            <a:off x="3794760" y="329184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19"/>
          <p:cNvSpPr/>
          <p:nvPr/>
        </p:nvSpPr>
        <p:spPr>
          <a:xfrm>
            <a:off x="3959352" y="3621024"/>
            <a:ext cx="438912" cy="438912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6" name="Image 4" descr="icons/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7632" y="3669304"/>
            <a:ext cx="342351" cy="34235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80560" y="329184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</a:t>
            </a:r>
            <a:endParaRPr lang="en-US" sz="1250" dirty="0"/>
          </a:p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+ cache 24h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6537960" y="3840480"/>
            <a:ext cx="685800" cy="0"/>
          </a:xfrm>
          <a:prstGeom prst="line">
            <a:avLst/>
          </a:prstGeom>
          <a:noFill/>
          <a:ln w="25400">
            <a:solidFill>
              <a:srgbClr val="FFB703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2"/>
          <p:cNvSpPr/>
          <p:nvPr/>
        </p:nvSpPr>
        <p:spPr>
          <a:xfrm>
            <a:off x="7223760" y="329184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16305A"/>
          </a:solidFill>
          <a:ln w="12700">
            <a:solidFill>
              <a:srgbClr val="3E7CB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3"/>
          <p:cNvSpPr/>
          <p:nvPr/>
        </p:nvSpPr>
        <p:spPr>
          <a:xfrm>
            <a:off x="7388352" y="3621024"/>
            <a:ext cx="438912" cy="438912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1" name="Image 5" descr="icons/deskto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36632" y="3669304"/>
            <a:ext cx="342351" cy="34235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909560" y="329184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50" dirty="0"/>
          </a:p>
        </p:txBody>
      </p:sp>
      <p:sp>
        <p:nvSpPr>
          <p:cNvPr id="33" name="Shape 25"/>
          <p:cNvSpPr/>
          <p:nvPr/>
        </p:nvSpPr>
        <p:spPr>
          <a:xfrm>
            <a:off x="5166360" y="4389120"/>
            <a:ext cx="0" cy="594360"/>
          </a:xfrm>
          <a:prstGeom prst="line">
            <a:avLst/>
          </a:prstGeom>
          <a:noFill/>
          <a:ln w="25400">
            <a:solidFill>
              <a:srgbClr val="6E88AC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26"/>
          <p:cNvSpPr/>
          <p:nvPr/>
        </p:nvSpPr>
        <p:spPr>
          <a:xfrm>
            <a:off x="3794760" y="4983480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1B2E52"/>
          </a:solidFill>
          <a:ln w="12700">
            <a:solidFill>
              <a:srgbClr val="3E7CB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27"/>
          <p:cNvSpPr/>
          <p:nvPr/>
        </p:nvSpPr>
        <p:spPr>
          <a:xfrm>
            <a:off x="3959352" y="5106924"/>
            <a:ext cx="438912" cy="438912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6" name="Image 6" descr="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632" y="5155204"/>
            <a:ext cx="342351" cy="342351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480560" y="49834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NeonDB — logs</a:t>
            </a:r>
            <a:endParaRPr lang="en-US" sz="1250" dirty="0"/>
          </a:p>
        </p:txBody>
      </p:sp>
      <p:sp>
        <p:nvSpPr>
          <p:cNvPr id="38" name="Shape 29"/>
          <p:cNvSpPr/>
          <p:nvPr/>
        </p:nvSpPr>
        <p:spPr>
          <a:xfrm>
            <a:off x="548640" y="5943600"/>
            <a:ext cx="11091672" cy="502920"/>
          </a:xfrm>
          <a:prstGeom prst="roundRect">
            <a:avLst>
              <a:gd name="adj" fmla="val 54545"/>
            </a:avLst>
          </a:prstGeom>
          <a:solidFill>
            <a:srgbClr val="FFB70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0"/>
          <p:cNvSpPr/>
          <p:nvPr/>
        </p:nvSpPr>
        <p:spPr>
          <a:xfrm>
            <a:off x="548640" y="594360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: Docker Compose en local — API + Dashboard, chacun dans son conteneur</a:t>
            </a:r>
            <a:endParaRPr lang="en-US" sz="1300" dirty="0"/>
          </a:p>
        </p:txBody>
      </p:sp>
      <p:sp>
        <p:nvSpPr>
          <p:cNvPr id="40" name="Text 3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FlyOnTime — Ludo · Patrick · Jedha Bootcamp · Bloc 6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DÉMONSTRATION DU PRODUIT FINAL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parcours utilisateur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874520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3E7CB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303020" y="1810512"/>
            <a:ext cx="365760" cy="365760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303020" y="1810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26771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Décollage 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23160" y="2240280"/>
            <a:ext cx="228600" cy="0"/>
          </a:xfrm>
          <a:prstGeom prst="line">
            <a:avLst/>
          </a:prstGeom>
          <a:noFill/>
          <a:ln w="25400">
            <a:solidFill>
              <a:srgbClr val="9DB4CE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651760" y="1691640"/>
            <a:ext cx="1874520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3E7CB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406140" y="1810512"/>
            <a:ext cx="365760" cy="365760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406140" y="1810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97480" y="226771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Arrivée à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26280" y="2240280"/>
            <a:ext cx="228600" cy="0"/>
          </a:xfrm>
          <a:prstGeom prst="line">
            <a:avLst/>
          </a:prstGeom>
          <a:noFill/>
          <a:ln w="25400">
            <a:solidFill>
              <a:srgbClr val="9DB4CE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754880" y="1691640"/>
            <a:ext cx="1874520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3E7CB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5509260" y="1810512"/>
            <a:ext cx="365760" cy="365760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509260" y="1810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00600" y="226771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du vol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29400" y="2240280"/>
            <a:ext cx="228600" cy="0"/>
          </a:xfrm>
          <a:prstGeom prst="line">
            <a:avLst/>
          </a:prstGeom>
          <a:noFill/>
          <a:ln w="25400">
            <a:solidFill>
              <a:srgbClr val="9DB4CE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6858000" y="1691640"/>
            <a:ext cx="1874520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3E7CB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7612380" y="1810512"/>
            <a:ext cx="365760" cy="365760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7612380" y="1810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03720" y="226771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Compagnie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732520" y="2240280"/>
            <a:ext cx="228600" cy="0"/>
          </a:xfrm>
          <a:prstGeom prst="line">
            <a:avLst/>
          </a:prstGeom>
          <a:noFill/>
          <a:ln w="25400">
            <a:solidFill>
              <a:srgbClr val="9DB4CE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8961120" y="1691640"/>
            <a:ext cx="1874520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3E7CB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9715500" y="1810512"/>
            <a:ext cx="365760" cy="365760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9715500" y="1810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006840" y="226771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Horaire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2971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Vrais vols récupérés via AeroDataBox quand disponibles, sinon repli réaliste — jamais d'erreur visible à l'écran.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1188720" y="3566160"/>
            <a:ext cx="4297680" cy="1737360"/>
          </a:xfrm>
          <a:prstGeom prst="roundRect">
            <a:avLst>
              <a:gd name="adj" fmla="val 5263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1188720" y="37947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🛫 Retard prédit au décollage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88720" y="425196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AE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Jauge colorée (vert / orange / rouge)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309360" y="3566160"/>
            <a:ext cx="4297680" cy="1737360"/>
          </a:xfrm>
          <a:prstGeom prst="roundRect">
            <a:avLst>
              <a:gd name="adj" fmla="val 5263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6309360" y="37947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🛬 Retard prédit à l'arrivée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09360" y="425196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AE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Jauge colorée (vert / orange / rouge)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carte animée du trajet, et indicateur de retard moyen sur l'aéroport de départ (24h)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00400" y="5943600"/>
            <a:ext cx="5760720" cy="502920"/>
          </a:xfrm>
          <a:prstGeom prst="roundRect">
            <a:avLst>
              <a:gd name="adj" fmla="val 50909"/>
            </a:avLst>
          </a:prstGeom>
          <a:solidFill>
            <a:srgbClr val="FFB70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3200400" y="594360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Démo live à l'écran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FlyOnTime — Ludo · Patrick · Jedha Bootcamp · Bloc 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IMPACT RÉEL DANS LE MONDE RÉEL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en bénéficie, et comment 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16305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68680" y="1874520"/>
            <a:ext cx="594360" cy="594360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icons/st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060" y="1939900"/>
            <a:ext cx="463601" cy="4636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060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Commerces aéroportuaires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31089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E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Ajuster stocks et effectifs selon le flux de passagers réellement attendu — plutôt qu'une moyenne statique.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16305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4663440" y="1874520"/>
            <a:ext cx="594360" cy="594360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icons/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8820" y="1939900"/>
            <a:ext cx="463601" cy="46360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6060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Compagnies &amp; escales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2000" y="31089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E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Anticiper les correspondances à risque, réallouer les équipes sol avant que le retard ne soit constaté.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16305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8458200" y="1874520"/>
            <a:ext cx="594360" cy="594360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icons/box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3580" y="1939900"/>
            <a:ext cx="463601" cy="46360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26060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aéroportuaire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66760" y="31089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E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Lisser la charge sur les postes et portes en connaissant le niveau de tension attendu par aéroport.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16052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B70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822960" y="443484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3" descr="icons/handshake_doll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369" y="4505249"/>
            <a:ext cx="499262" cy="4992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429768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la météo : une aide à la décision, pas une vérité absolue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645920" y="46817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paliers de risque (pas de retard / retard modéré / retard important) donnent un signal actionnable à 72h, même avec une marge d'erreur — c'est là que se crée la valeur, pas dans la précision à la minute.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5623560"/>
            <a:ext cx="457200" cy="457200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4" descr="icons/glob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932" y="5673852"/>
            <a:ext cx="356616" cy="35661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43000" y="56235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Généralisable : le même pipeline (planning + météo + historique) est transposable à d'autres aéroports ou compagnies dès lors que les données existent — un module additionnel potentiel pour des systèmes de gestion aéroportuaire existants.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FlyOnTime — Ludo · Patrick · Jedha Bootcamp · Bloc 6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AMÉLIORATIONS &amp; PROCHAINES ÉTAPES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 aller plus loin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icons/cloud_s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0" y="202631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9280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Vraie prévision météo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08760" y="231343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la climatologie par une API de prévision à J-72h (Open-Meteo, etc.) — le gain de précision le plus direct.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6446520" y="1965960"/>
            <a:ext cx="548640" cy="548640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icons/ro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6870" y="202631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89280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cloud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132320" y="231343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Redéployer sur Render ou Hugging Face Spaces dès que la contrainte de carte bancaire sera levée — architecture déjà prête (render.yaml).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65760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822960" y="3931920"/>
            <a:ext cx="548640" cy="548640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icons/too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310" y="399227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85876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Réentraînement automatisé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508760" y="427939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Planifier un réentraînement périodique du modèle pour qu'il reste à jour sans intervention manuelle.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365760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6446520" y="3931920"/>
            <a:ext cx="548640" cy="548640"/>
          </a:xfrm>
          <a:prstGeom prst="ellipse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3" descr="icons/chart_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6870" y="3992270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85876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granularité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132320" y="427939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Séparer les cas par type d'incident (météo vs opérationnel) pour affiner les prédictions de retards extrêmes.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FlyOnTime — Ludo · Patrick · Jedha Bootcamp · Bloc 6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85816" y="1188720"/>
            <a:ext cx="822960" cy="82296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342" y="1279246"/>
            <a:ext cx="641909" cy="6419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28600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— Questions ?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0" y="32004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FlyOnTime — Prédiction de retards de vols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0" y="36576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Ludo · Patrick · Jedha Bootcamp · Bloc 6 (MLOps)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962</Words>
  <Application>Microsoft Office PowerPoint</Application>
  <PresentationFormat>Grand écran</PresentationFormat>
  <Paragraphs>133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Ludovic Surel</cp:lastModifiedBy>
  <cp:revision>2</cp:revision>
  <dcterms:created xsi:type="dcterms:W3CDTF">2026-09-13T20:38:17Z</dcterms:created>
  <dcterms:modified xsi:type="dcterms:W3CDTF">2026-09-13T20:45:11Z</dcterms:modified>
</cp:coreProperties>
</file>